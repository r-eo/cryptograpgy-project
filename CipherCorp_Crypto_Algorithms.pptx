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FFFFFF"/>
          </a:solidFill>
          <a:ln w="317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645920"/>
            <a:ext cx="8869680" cy="3474720"/>
          </a:xfrm>
          <a:prstGeom prst="rect">
            <a:avLst/>
          </a:prstGeom>
          <a:noFill/>
        </p:spPr>
        <p:txBody>
          <a:bodyPr wrap="square">
            <a:spAutoFit/>
          </a:bodyPr>
          <a:lstStyle/>
          <a:p>
            <a:pPr>
              <a:spcAft>
                <a:spcPts val="1400"/>
              </a:spcAft>
              <a:defRPr sz="1200" b="1">
                <a:solidFill>
                  <a:srgbClr val="9B1B30"/>
                </a:solidFill>
              </a:defRPr>
            </a:pPr>
            <a:r>
              <a:t>REAL-WORLD CRYPTOGRAPHY IN PRODUCTION</a:t>
            </a:r>
          </a:p>
          <a:p>
            <a:pPr>
              <a:spcAft>
                <a:spcPts val="600"/>
              </a:spcAft>
              <a:defRPr sz="3600" b="1">
                <a:solidFill>
                  <a:srgbClr val="0F172A"/>
                </a:solidFill>
              </a:defRPr>
            </a:pPr>
            <a:r>
              <a:t>Modern Public-Key Algorithms</a:t>
            </a:r>
          </a:p>
          <a:p>
            <a:pPr>
              <a:spcAft>
                <a:spcPts val="1800"/>
              </a:spcAft>
              <a:defRPr sz="2200" b="1">
                <a:solidFill>
                  <a:srgbClr val="741222"/>
                </a:solidFill>
              </a:defRPr>
            </a:pPr>
            <a:r>
              <a:t>Diffie–Hellman (DH)  •  DSA  •  ECDSA</a:t>
            </a:r>
          </a:p>
          <a:p>
            <a:pPr>
              <a:defRPr sz="1400">
                <a:solidFill>
                  <a:srgbClr val="475569"/>
                </a:solidFill>
              </a:defRPr>
            </a:pPr>
            <a:r>
              <a:t>A simple and informative breakdown of real-life production applications (Signal E2EE, Linux OS Signing, and Blockchain Wallets) with step-by-step algorithms and simple worked examples.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SYSTEM ARCHITECTURE</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Mapping the Algorithms to Real-Life Applications</a:t>
            </a:r>
          </a:p>
        </p:txBody>
      </p:sp>
      <p:sp>
        <p:nvSpPr>
          <p:cNvPr id="5" name="Rounded Rectangle 4"/>
          <p:cNvSpPr/>
          <p:nvPr/>
        </p:nvSpPr>
        <p:spPr>
          <a:xfrm>
            <a:off x="731520" y="1554480"/>
            <a:ext cx="338328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2926080" cy="4114800"/>
          </a:xfrm>
          <a:prstGeom prst="rect">
            <a:avLst/>
          </a:prstGeom>
          <a:noFill/>
        </p:spPr>
        <p:txBody>
          <a:bodyPr wrap="square">
            <a:spAutoFit/>
          </a:bodyPr>
          <a:lstStyle/>
          <a:p>
            <a:pPr>
              <a:spcAft>
                <a:spcPts val="1000"/>
              </a:spcAft>
              <a:defRPr sz="1800" b="1">
                <a:solidFill>
                  <a:srgbClr val="741222"/>
                </a:solidFill>
              </a:defRPr>
            </a:pPr>
            <a:r>
              <a:t>Diffie–Hellman (DH)</a:t>
            </a:r>
          </a:p>
          <a:p>
            <a:pPr>
              <a:spcAft>
                <a:spcPts val="1200"/>
              </a:spcAft>
              <a:defRPr sz="1300" b="1">
                <a:solidFill>
                  <a:srgbClr val="0F172A"/>
                </a:solidFill>
              </a:defRPr>
            </a:pPr>
            <a:r>
              <a:t>Real-World Application: E2EE Messaging &amp; TLS Handshakes</a:t>
            </a:r>
          </a:p>
          <a:p>
            <a:pPr>
              <a:defRPr sz="1200">
                <a:solidFill>
                  <a:srgbClr val="475569"/>
                </a:solidFill>
              </a:defRPr>
            </a:pPr>
            <a:r>
              <a:t>Used in Signal, WhatsApp, and TLS 1.3 to establish forward-secret symmetric keys between two phones across an insecure Wi-Fi / cellular network without transmitting the secret.</a:t>
            </a:r>
          </a:p>
        </p:txBody>
      </p:sp>
      <p:sp>
        <p:nvSpPr>
          <p:cNvPr id="7" name="Rounded Rectangle 6"/>
          <p:cNvSpPr/>
          <p:nvPr/>
        </p:nvSpPr>
        <p:spPr>
          <a:xfrm>
            <a:off x="4389120" y="1554480"/>
            <a:ext cx="3383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783080"/>
            <a:ext cx="2926080" cy="4114800"/>
          </a:xfrm>
          <a:prstGeom prst="rect">
            <a:avLst/>
          </a:prstGeom>
          <a:noFill/>
        </p:spPr>
        <p:txBody>
          <a:bodyPr wrap="square">
            <a:spAutoFit/>
          </a:bodyPr>
          <a:lstStyle/>
          <a:p>
            <a:pPr>
              <a:spcAft>
                <a:spcPts val="1000"/>
              </a:spcAft>
              <a:defRPr sz="1800" b="1">
                <a:solidFill>
                  <a:srgbClr val="741222"/>
                </a:solidFill>
              </a:defRPr>
            </a:pPr>
            <a:r>
              <a:t>Digital Signature Algorithm (DSA)</a:t>
            </a:r>
          </a:p>
          <a:p>
            <a:pPr>
              <a:spcAft>
                <a:spcPts val="1200"/>
              </a:spcAft>
              <a:defRPr sz="1300" b="1">
                <a:solidFill>
                  <a:srgbClr val="0F172A"/>
                </a:solidFill>
              </a:defRPr>
            </a:pPr>
            <a:r>
              <a:t>Real-World Application: OS Kernel &amp; Package Integrity</a:t>
            </a:r>
          </a:p>
          <a:p>
            <a:pPr>
              <a:defRPr sz="1200">
                <a:solidFill>
                  <a:srgbClr val="475569"/>
                </a:solidFill>
              </a:defRPr>
            </a:pPr>
            <a:r>
              <a:t>Used in Linux Debian (apt) and Red Hat (rpm) package signing to verify that operating system updates and kernel modules originate from verified release engineers and have not been tampered with.</a:t>
            </a:r>
          </a:p>
        </p:txBody>
      </p:sp>
      <p:sp>
        <p:nvSpPr>
          <p:cNvPr id="9" name="Rounded Rectangle 8"/>
          <p:cNvSpPr/>
          <p:nvPr/>
        </p:nvSpPr>
        <p:spPr>
          <a:xfrm>
            <a:off x="8046720" y="1554480"/>
            <a:ext cx="3383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783080"/>
            <a:ext cx="2926080" cy="4114800"/>
          </a:xfrm>
          <a:prstGeom prst="rect">
            <a:avLst/>
          </a:prstGeom>
          <a:noFill/>
        </p:spPr>
        <p:txBody>
          <a:bodyPr wrap="square">
            <a:spAutoFit/>
          </a:bodyPr>
          <a:lstStyle/>
          <a:p>
            <a:pPr>
              <a:spcAft>
                <a:spcPts val="1000"/>
              </a:spcAft>
              <a:defRPr sz="1800" b="1">
                <a:solidFill>
                  <a:srgbClr val="741222"/>
                </a:solidFill>
              </a:defRPr>
            </a:pPr>
            <a:r>
              <a:t>Elliptic Curve DSA (ECDSA)</a:t>
            </a:r>
          </a:p>
          <a:p>
            <a:pPr>
              <a:spcAft>
                <a:spcPts val="1200"/>
              </a:spcAft>
              <a:defRPr sz="1300" b="1">
                <a:solidFill>
                  <a:srgbClr val="0F172A"/>
                </a:solidFill>
              </a:defRPr>
            </a:pPr>
            <a:r>
              <a:t>Real-World Application: Blockchain &amp; Crypto Wallets</a:t>
            </a:r>
          </a:p>
          <a:p>
            <a:pPr>
              <a:defRPr sz="1200">
                <a:solidFill>
                  <a:srgbClr val="475569"/>
                </a:solidFill>
              </a:defRPr>
            </a:pPr>
            <a:r>
              <a:t>Used in Bitcoin, Ethereum, and Apple Pay to digitally authorize financial transactions using curve secp256k1, delivering 128-bit security with 256-bit keys (an 8x size reduction).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APPLICATION 1: SIGNAL &amp; WHATSAPP</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Diffie–Hellman: How End-to-End Chat Negotiates a Secret</a:t>
            </a:r>
          </a:p>
        </p:txBody>
      </p:sp>
      <p:sp>
        <p:nvSpPr>
          <p:cNvPr id="5" name="Rounded Rectangle 4"/>
          <p:cNvSpPr/>
          <p:nvPr/>
        </p:nvSpPr>
        <p:spPr>
          <a:xfrm>
            <a:off x="731520" y="1554480"/>
            <a:ext cx="521208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114800"/>
          </a:xfrm>
          <a:prstGeom prst="rect">
            <a:avLst/>
          </a:prstGeom>
          <a:noFill/>
        </p:spPr>
        <p:txBody>
          <a:bodyPr wrap="square">
            <a:spAutoFit/>
          </a:bodyPr>
          <a:lstStyle/>
          <a:p>
            <a:pPr>
              <a:spcAft>
                <a:spcPts val="1000"/>
              </a:spcAft>
              <a:defRPr sz="1800" b="1">
                <a:solidFill>
                  <a:srgbClr val="741222"/>
                </a:solidFill>
              </a:defRPr>
            </a:pPr>
            <a:r>
              <a:t>The Hostile Wire Problem</a:t>
            </a:r>
          </a:p>
          <a:p>
            <a:pPr>
              <a:spcAft>
                <a:spcPts val="800"/>
              </a:spcAft>
            </a:pPr>
            <a:r>
              <a:rPr b="1" sz="1200">
                <a:solidFill>
                  <a:srgbClr val="9B1B30"/>
                </a:solidFill>
              </a:rPr>
              <a:t>The Environment: </a:t>
            </a:r>
            <a:r>
              <a:rPr sz="1200">
                <a:solidFill>
                  <a:srgbClr val="475569"/>
                </a:solidFill>
              </a:rPr>
              <a:t>Alice (Client Phone) and Bob (Server) communicate through untrusted Wi-Fi routers and public ISP switches where an attacker (Eve) can read every single transmitted packet.</a:t>
            </a:r>
          </a:p>
          <a:p>
            <a:pPr>
              <a:spcAft>
                <a:spcPts val="800"/>
              </a:spcAft>
            </a:pPr>
            <a:r>
              <a:rPr b="1" sz="1200">
                <a:solidFill>
                  <a:srgbClr val="9B1B30"/>
                </a:solidFill>
              </a:rPr>
              <a:t>The Goal: </a:t>
            </a:r>
            <a:r>
              <a:rPr sz="1200">
                <a:solidFill>
                  <a:srgbClr val="475569"/>
                </a:solidFill>
              </a:rPr>
              <a:t>Derive a shared symmetric key 's' that only Alice and Bob know, without ever transmitting 's' across the network.</a:t>
            </a:r>
          </a:p>
          <a:p>
            <a:pPr>
              <a:spcAft>
                <a:spcPts val="800"/>
              </a:spcAft>
            </a:pPr>
            <a:r>
              <a:rPr b="1" sz="1200">
                <a:solidFill>
                  <a:srgbClr val="9B1B30"/>
                </a:solidFill>
              </a:rPr>
              <a:t>The Trapdoor Mechanism: </a:t>
            </a:r>
            <a:r>
              <a:rPr sz="1200">
                <a:solidFill>
                  <a:srgbClr val="475569"/>
                </a:solidFill>
              </a:rPr>
              <a:t>Computing modular exponentiation A = g^a mod p is instantaneous. But reversing it—extracting private exponent 'a' given public A, g, and p—is the intractable Discrete Logarithm Problem.</a:t>
            </a:r>
          </a:p>
        </p:txBody>
      </p:sp>
      <p:sp>
        <p:nvSpPr>
          <p:cNvPr id="7" name="Rounded Rectangle 6"/>
          <p:cNvSpPr/>
          <p:nvPr/>
        </p:nvSpPr>
        <p:spPr>
          <a:xfrm>
            <a:off x="6217920" y="155448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114800"/>
          </a:xfrm>
          <a:prstGeom prst="rect">
            <a:avLst/>
          </a:prstGeom>
          <a:noFill/>
        </p:spPr>
        <p:txBody>
          <a:bodyPr wrap="square">
            <a:spAutoFit/>
          </a:bodyPr>
          <a:lstStyle/>
          <a:p>
            <a:pPr>
              <a:spcAft>
                <a:spcPts val="1000"/>
              </a:spcAft>
              <a:defRPr sz="1800" b="1">
                <a:solidFill>
                  <a:srgbClr val="0F172A"/>
                </a:solidFill>
              </a:defRPr>
            </a:pPr>
            <a:r>
              <a:t>From Handshake to Chat Encryption</a:t>
            </a:r>
          </a:p>
          <a:p>
            <a:pPr>
              <a:spcAft>
                <a:spcPts val="800"/>
              </a:spcAft>
            </a:pPr>
            <a:r>
              <a:rPr b="1" sz="1200">
                <a:solidFill>
                  <a:srgbClr val="741222"/>
                </a:solidFill>
              </a:rPr>
              <a:t>1. Handshake Phase: </a:t>
            </a:r>
            <a:r>
              <a:rPr sz="1200">
                <a:solidFill>
                  <a:srgbClr val="475569"/>
                </a:solidFill>
              </a:rPr>
              <a:t>Alice sends public key A; Bob sends public key B. Eve observes both A and B in flight.</a:t>
            </a:r>
          </a:p>
          <a:p>
            <a:pPr>
              <a:spcAft>
                <a:spcPts val="800"/>
              </a:spcAft>
            </a:pPr>
            <a:r>
              <a:rPr b="1" sz="1200">
                <a:solidFill>
                  <a:srgbClr val="741222"/>
                </a:solidFill>
              </a:rPr>
              <a:t>2. Independent Derivation: </a:t>
            </a:r>
            <a:r>
              <a:rPr sz="1200">
                <a:solidFill>
                  <a:srgbClr val="475569"/>
                </a:solidFill>
              </a:rPr>
              <a:t>Alice calculates s = B^a mod p. Bob calculates s = A^b mod p. Both land on identical secret s = g^(ab) mod p.</a:t>
            </a:r>
          </a:p>
          <a:p>
            <a:pPr>
              <a:spcAft>
                <a:spcPts val="800"/>
              </a:spcAft>
            </a:pPr>
            <a:r>
              <a:rPr b="1" sz="1200">
                <a:solidFill>
                  <a:srgbClr val="741222"/>
                </a:solidFill>
              </a:rPr>
              <a:t>3. Activation of Symmetric Cipher: </a:t>
            </a:r>
            <a:r>
              <a:rPr sz="1200">
                <a:solidFill>
                  <a:srgbClr val="475569"/>
                </a:solidFill>
              </a:rPr>
              <a:t>The derived integer 's' is fed into a symmetric stream/block cipher (e.g., AES-GCM).</a:t>
            </a:r>
          </a:p>
          <a:p>
            <a:pPr>
              <a:spcAft>
                <a:spcPts val="800"/>
              </a:spcAft>
            </a:pPr>
            <a:r>
              <a:rPr b="1" sz="1200">
                <a:solidFill>
                  <a:srgbClr val="741222"/>
                </a:solidFill>
              </a:rPr>
              <a:t>4. Message Transmission: </a:t>
            </a:r>
            <a:r>
              <a:rPr sz="1200">
                <a:solidFill>
                  <a:srgbClr val="475569"/>
                </a:solidFill>
              </a:rPr>
              <a:t>Alice encrypts her message ('Deploy patch at 0300'). The ciphertext crosses the wire. Eve sees unreadable hex, while Bob uses 's' to decrypt.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ALGORITHM DETAILS</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Diffie–Hellman: Mathematical Algorithm Specification</a:t>
            </a:r>
          </a:p>
        </p:txBody>
      </p:sp>
      <p:sp>
        <p:nvSpPr>
          <p:cNvPr id="5" name="Rounded Rectangle 4"/>
          <p:cNvSpPr/>
          <p:nvPr/>
        </p:nvSpPr>
        <p:spPr>
          <a:xfrm>
            <a:off x="731520" y="1554480"/>
            <a:ext cx="20574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783080" cy="4297680"/>
          </a:xfrm>
          <a:prstGeom prst="rect">
            <a:avLst/>
          </a:prstGeom>
          <a:noFill/>
        </p:spPr>
        <p:txBody>
          <a:bodyPr wrap="square">
            <a:spAutoFit/>
          </a:bodyPr>
          <a:lstStyle/>
          <a:p>
            <a:pPr>
              <a:spcAft>
                <a:spcPts val="1000"/>
              </a:spcAft>
              <a:defRPr sz="1400" b="1">
                <a:solidFill>
                  <a:srgbClr val="741222"/>
                </a:solidFill>
              </a:defRPr>
            </a:pPr>
            <a:r>
              <a:t>1. Public Setup</a:t>
            </a:r>
          </a:p>
          <a:p>
            <a:pPr>
              <a:defRPr sz="1100">
                <a:solidFill>
                  <a:srgbClr val="0F172A"/>
                </a:solidFill>
              </a:defRPr>
            </a:pPr>
            <a:r>
              <a:t>Choose prime modulus 'p' and generator 'g' (primitive root modulo p).</a:t>
            </a:r>
            <a:br/>
            <a:r>
              <a:t>Both are public to all participants.</a:t>
            </a:r>
          </a:p>
        </p:txBody>
      </p:sp>
      <p:sp>
        <p:nvSpPr>
          <p:cNvPr id="7" name="Rounded Rectangle 6"/>
          <p:cNvSpPr/>
          <p:nvPr/>
        </p:nvSpPr>
        <p:spPr>
          <a:xfrm>
            <a:off x="2898648" y="1554480"/>
            <a:ext cx="205740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35808" y="1737360"/>
            <a:ext cx="1783080" cy="4297680"/>
          </a:xfrm>
          <a:prstGeom prst="rect">
            <a:avLst/>
          </a:prstGeom>
          <a:noFill/>
        </p:spPr>
        <p:txBody>
          <a:bodyPr wrap="square">
            <a:spAutoFit/>
          </a:bodyPr>
          <a:lstStyle/>
          <a:p>
            <a:pPr>
              <a:spcAft>
                <a:spcPts val="1000"/>
              </a:spcAft>
              <a:defRPr sz="1400" b="1">
                <a:solidFill>
                  <a:srgbClr val="741222"/>
                </a:solidFill>
              </a:defRPr>
            </a:pPr>
            <a:r>
              <a:t>2. Private Nonces</a:t>
            </a:r>
          </a:p>
          <a:p>
            <a:pPr>
              <a:defRPr sz="1100">
                <a:solidFill>
                  <a:srgbClr val="0F172A"/>
                </a:solidFill>
              </a:defRPr>
            </a:pPr>
            <a:r>
              <a:t>Alice picks secret random exponent a ∈ [2, p - 2].</a:t>
            </a:r>
            <a:br/>
            <a:r>
              <a:t>Bob picks secret random exponent b ∈ [2, p - 2].</a:t>
            </a:r>
          </a:p>
        </p:txBody>
      </p:sp>
      <p:sp>
        <p:nvSpPr>
          <p:cNvPr id="9" name="Rounded Rectangle 8"/>
          <p:cNvSpPr/>
          <p:nvPr/>
        </p:nvSpPr>
        <p:spPr>
          <a:xfrm>
            <a:off x="5065776" y="1554480"/>
            <a:ext cx="20574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02936" y="1737360"/>
            <a:ext cx="1783080" cy="4297680"/>
          </a:xfrm>
          <a:prstGeom prst="rect">
            <a:avLst/>
          </a:prstGeom>
          <a:noFill/>
        </p:spPr>
        <p:txBody>
          <a:bodyPr wrap="square">
            <a:spAutoFit/>
          </a:bodyPr>
          <a:lstStyle/>
          <a:p>
            <a:pPr>
              <a:spcAft>
                <a:spcPts val="1000"/>
              </a:spcAft>
              <a:defRPr sz="1400" b="1">
                <a:solidFill>
                  <a:srgbClr val="741222"/>
                </a:solidFill>
              </a:defRPr>
            </a:pPr>
            <a:r>
              <a:t>3. Public Keys</a:t>
            </a:r>
          </a:p>
          <a:p>
            <a:pPr>
              <a:defRPr sz="1100">
                <a:solidFill>
                  <a:srgbClr val="0F172A"/>
                </a:solidFill>
              </a:defRPr>
            </a:pPr>
            <a:r>
              <a:t>Alice computes: A = g^a mod p</a:t>
            </a:r>
            <a:br/>
            <a:r>
              <a:t>Bob computes: B = g^b mod p</a:t>
            </a:r>
            <a:br/>
            <a:r>
              <a:t>(via square-and-multiply).</a:t>
            </a:r>
          </a:p>
        </p:txBody>
      </p:sp>
      <p:sp>
        <p:nvSpPr>
          <p:cNvPr id="11" name="Rounded Rectangle 10"/>
          <p:cNvSpPr/>
          <p:nvPr/>
        </p:nvSpPr>
        <p:spPr>
          <a:xfrm>
            <a:off x="7232904" y="1554480"/>
            <a:ext cx="20574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70064" y="1737360"/>
            <a:ext cx="1783080" cy="4297680"/>
          </a:xfrm>
          <a:prstGeom prst="rect">
            <a:avLst/>
          </a:prstGeom>
          <a:noFill/>
        </p:spPr>
        <p:txBody>
          <a:bodyPr wrap="square">
            <a:spAutoFit/>
          </a:bodyPr>
          <a:lstStyle/>
          <a:p>
            <a:pPr>
              <a:spcAft>
                <a:spcPts val="1000"/>
              </a:spcAft>
              <a:defRPr sz="1400" b="1">
                <a:solidFill>
                  <a:srgbClr val="741222"/>
                </a:solidFill>
              </a:defRPr>
            </a:pPr>
            <a:r>
              <a:t>4. Exchange</a:t>
            </a:r>
          </a:p>
          <a:p>
            <a:pPr>
              <a:defRPr sz="1100">
                <a:solidFill>
                  <a:srgbClr val="0F172A"/>
                </a:solidFill>
              </a:defRPr>
            </a:pPr>
            <a:r>
              <a:t>Alice sends A to Bob.</a:t>
            </a:r>
            <a:br/>
            <a:r>
              <a:t>Bob sends B to Alice.</a:t>
            </a:r>
            <a:br/>
            <a:r>
              <a:t>Eve intercepts p, g, A, and B.</a:t>
            </a:r>
          </a:p>
        </p:txBody>
      </p:sp>
      <p:sp>
        <p:nvSpPr>
          <p:cNvPr id="13" name="Rounded Rectangle 12"/>
          <p:cNvSpPr/>
          <p:nvPr/>
        </p:nvSpPr>
        <p:spPr>
          <a:xfrm>
            <a:off x="9400032" y="1554480"/>
            <a:ext cx="205740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37192" y="1737360"/>
            <a:ext cx="1783080" cy="4297680"/>
          </a:xfrm>
          <a:prstGeom prst="rect">
            <a:avLst/>
          </a:prstGeom>
          <a:noFill/>
        </p:spPr>
        <p:txBody>
          <a:bodyPr wrap="square">
            <a:spAutoFit/>
          </a:bodyPr>
          <a:lstStyle/>
          <a:p>
            <a:pPr>
              <a:spcAft>
                <a:spcPts val="1000"/>
              </a:spcAft>
              <a:defRPr sz="1400" b="1">
                <a:solidFill>
                  <a:srgbClr val="741222"/>
                </a:solidFill>
              </a:defRPr>
            </a:pPr>
            <a:r>
              <a:t>5. Shared Secret</a:t>
            </a:r>
          </a:p>
          <a:p>
            <a:pPr>
              <a:defRPr sz="1100">
                <a:solidFill>
                  <a:srgbClr val="0F172A"/>
                </a:solidFill>
              </a:defRPr>
            </a:pPr>
            <a:r>
              <a:t>Alice computes: s = B^a mod p</a:t>
            </a:r>
            <a:br/>
            <a:r>
              <a:t>Bob computes: s = A^b mod p</a:t>
            </a:r>
            <a:br/>
            <a:r>
              <a:t>s_Alice = s_Bob = g^(ab) mod 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APPLICATION 2: LINUX &amp; DEBIAN APT</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DSA: How Linux OS Packages &amp; Firmware Are Verified</a:t>
            </a:r>
          </a:p>
        </p:txBody>
      </p:sp>
      <p:sp>
        <p:nvSpPr>
          <p:cNvPr id="5" name="Rounded Rectangle 4"/>
          <p:cNvSpPr/>
          <p:nvPr/>
        </p:nvSpPr>
        <p:spPr>
          <a:xfrm>
            <a:off x="731520" y="155448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114800"/>
          </a:xfrm>
          <a:prstGeom prst="rect">
            <a:avLst/>
          </a:prstGeom>
          <a:noFill/>
        </p:spPr>
        <p:txBody>
          <a:bodyPr wrap="square">
            <a:spAutoFit/>
          </a:bodyPr>
          <a:lstStyle/>
          <a:p>
            <a:pPr>
              <a:spcAft>
                <a:spcPts val="1000"/>
              </a:spcAft>
              <a:defRPr sz="1800" b="1">
                <a:solidFill>
                  <a:srgbClr val="741222"/>
                </a:solidFill>
              </a:defRPr>
            </a:pPr>
            <a:r>
              <a:t>The Package Tampering Threat</a:t>
            </a:r>
          </a:p>
          <a:p>
            <a:pPr>
              <a:spcAft>
                <a:spcPts val="800"/>
              </a:spcAft>
            </a:pPr>
            <a:r>
              <a:rPr b="1" sz="1200">
                <a:solidFill>
                  <a:srgbClr val="0F172A"/>
                </a:solidFill>
              </a:rPr>
              <a:t>The Environment: </a:t>
            </a:r>
            <a:r>
              <a:rPr sz="1200">
                <a:solidFill>
                  <a:srgbClr val="475569"/>
                </a:solidFill>
              </a:rPr>
              <a:t>Linux distribution mirrors distribute multi-gigabyte kernel binaries (e.g. linux-image-6.8.0-generic.deb). Mirrors can be untrusted or compromised.</a:t>
            </a:r>
          </a:p>
          <a:p>
            <a:pPr>
              <a:spcAft>
                <a:spcPts val="800"/>
              </a:spcAft>
            </a:pPr>
            <a:r>
              <a:rPr b="1" sz="1200">
                <a:solidFill>
                  <a:srgbClr val="0F172A"/>
                </a:solidFill>
              </a:rPr>
              <a:t>The Need: </a:t>
            </a:r>
            <a:r>
              <a:rPr sz="1200">
                <a:solidFill>
                  <a:srgbClr val="475569"/>
                </a:solidFill>
              </a:rPr>
              <a:t>The operating system installer ('apt-get' or 'rpm') must mathematically prove the package was produced by Canonical/Debian and not a single bit was modified in transit.</a:t>
            </a:r>
          </a:p>
          <a:p>
            <a:pPr>
              <a:spcAft>
                <a:spcPts val="800"/>
              </a:spcAft>
            </a:pPr>
            <a:r>
              <a:rPr b="1" sz="1200">
                <a:solidFill>
                  <a:srgbClr val="0F172A"/>
                </a:solidFill>
              </a:rPr>
              <a:t>The Signature Pair (r, s): </a:t>
            </a:r>
            <a:r>
              <a:rPr sz="1200">
                <a:solidFill>
                  <a:srgbClr val="475569"/>
                </a:solidFill>
              </a:rPr>
              <a:t>The signing authority hashes the file to H(m), binds it to their private key x and a per-message ephemeral nonce k, producing the compact tuple (r, s).</a:t>
            </a:r>
          </a:p>
        </p:txBody>
      </p:sp>
      <p:sp>
        <p:nvSpPr>
          <p:cNvPr id="7" name="Rounded Rectangle 6"/>
          <p:cNvSpPr/>
          <p:nvPr/>
        </p:nvSpPr>
        <p:spPr>
          <a:xfrm>
            <a:off x="6217920" y="1554480"/>
            <a:ext cx="521208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114800"/>
          </a:xfrm>
          <a:prstGeom prst="rect">
            <a:avLst/>
          </a:prstGeom>
          <a:noFill/>
        </p:spPr>
        <p:txBody>
          <a:bodyPr wrap="square">
            <a:spAutoFit/>
          </a:bodyPr>
          <a:lstStyle/>
          <a:p>
            <a:pPr>
              <a:spcAft>
                <a:spcPts val="1000"/>
              </a:spcAft>
              <a:defRPr sz="1800" b="1">
                <a:solidFill>
                  <a:srgbClr val="741222"/>
                </a:solidFill>
              </a:defRPr>
            </a:pPr>
            <a:r>
              <a:t>Client Sandbox Verification</a:t>
            </a:r>
          </a:p>
          <a:p>
            <a:pPr>
              <a:spcAft>
                <a:spcPts val="800"/>
              </a:spcAft>
            </a:pPr>
            <a:r>
              <a:rPr b="1" sz="1200">
                <a:solidFill>
                  <a:srgbClr val="9B1B30"/>
                </a:solidFill>
              </a:rPr>
              <a:t>1. Hash Computation: </a:t>
            </a:r>
            <a:r>
              <a:rPr sz="1200">
                <a:solidFill>
                  <a:srgbClr val="475569"/>
                </a:solidFill>
              </a:rPr>
              <a:t>Client computer independently hashes the received debian archive to calculate H(m).</a:t>
            </a:r>
          </a:p>
          <a:p>
            <a:pPr>
              <a:spcAft>
                <a:spcPts val="800"/>
              </a:spcAft>
            </a:pPr>
            <a:r>
              <a:rPr b="1" sz="1200">
                <a:solidFill>
                  <a:srgbClr val="9B1B30"/>
                </a:solidFill>
              </a:rPr>
              <a:t>2. Verification Weights: </a:t>
            </a:r>
            <a:r>
              <a:rPr sz="1200">
                <a:solidFill>
                  <a:srgbClr val="475569"/>
                </a:solidFill>
              </a:rPr>
              <a:t>Client computes w = s^(-1) mod q using the Extended Euclidean Algorithm, then weights u1 = H(m)·w and u2 = r·w mod q.</a:t>
            </a:r>
          </a:p>
          <a:p>
            <a:pPr>
              <a:spcAft>
                <a:spcPts val="800"/>
              </a:spcAft>
            </a:pPr>
            <a:r>
              <a:rPr b="1" sz="1200">
                <a:solidFill>
                  <a:srgbClr val="9B1B30"/>
                </a:solidFill>
              </a:rPr>
              <a:t>3. The Test (v == r): </a:t>
            </a:r>
            <a:r>
              <a:rPr sz="1200">
                <a:solidFill>
                  <a:srgbClr val="475569"/>
                </a:solidFill>
              </a:rPr>
              <a:t>Client evaluates v = ((g^u1 · y^u2) mod p) mod q. If v matches r, the kernel code is authentic!</a:t>
            </a:r>
          </a:p>
          <a:p>
            <a:pPr>
              <a:spcAft>
                <a:spcPts val="800"/>
              </a:spcAft>
            </a:pPr>
            <a:r>
              <a:rPr b="1" sz="1200">
                <a:solidFill>
                  <a:srgbClr val="9B1B30"/>
                </a:solidFill>
              </a:rPr>
              <a:t>4. Tamper Defense: </a:t>
            </a:r>
            <a:r>
              <a:rPr sz="1200">
                <a:solidFill>
                  <a:srgbClr val="475569"/>
                </a:solidFill>
              </a:rPr>
              <a:t>If an attacker modifies even one byte of the binary, H(m') changes completely, causing v ≠ r. The installer throws 'BADSIG' and aborts installation.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ALGORITHM DETAILS</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DSA: Mathematical Algorithm Specification</a:t>
            </a:r>
          </a:p>
        </p:txBody>
      </p:sp>
      <p:sp>
        <p:nvSpPr>
          <p:cNvPr id="5" name="Rounded Rectangle 4"/>
          <p:cNvSpPr/>
          <p:nvPr/>
        </p:nvSpPr>
        <p:spPr>
          <a:xfrm>
            <a:off x="731520" y="1554480"/>
            <a:ext cx="3383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17520" cy="4297680"/>
          </a:xfrm>
          <a:prstGeom prst="rect">
            <a:avLst/>
          </a:prstGeom>
          <a:noFill/>
        </p:spPr>
        <p:txBody>
          <a:bodyPr wrap="square">
            <a:spAutoFit/>
          </a:bodyPr>
          <a:lstStyle/>
          <a:p>
            <a:pPr>
              <a:spcAft>
                <a:spcPts val="1200"/>
              </a:spcAft>
              <a:defRPr sz="1600" b="1">
                <a:solidFill>
                  <a:srgbClr val="741222"/>
                </a:solidFill>
              </a:defRPr>
            </a:pPr>
            <a:r>
              <a:t>Stage 1: Keygen</a:t>
            </a:r>
          </a:p>
          <a:p>
            <a:pPr>
              <a:defRPr sz="1200">
                <a:solidFill>
                  <a:srgbClr val="0F172A"/>
                </a:solidFill>
              </a:defRPr>
            </a:pPr>
            <a:r>
              <a:t>1. Primes p and q where q | (p - 1).</a:t>
            </a:r>
            <a:br/>
            <a:r>
              <a:t>2. Generator g = h^((p-1)/q) mod p &gt; 1.</a:t>
            </a:r>
            <a:br/>
            <a:r>
              <a:t>3. Private key: x ∈ [1, q - 1].</a:t>
            </a:r>
            <a:br/>
            <a:r>
              <a:t>4. Public key: y = g^x mod p.</a:t>
            </a:r>
            <a:br/>
            <a:br/>
            <a:r>
              <a:t>Public: (p, q, g, y)</a:t>
            </a:r>
            <a:br/>
            <a:r>
              <a:t>Private: x</a:t>
            </a:r>
          </a:p>
        </p:txBody>
      </p:sp>
      <p:sp>
        <p:nvSpPr>
          <p:cNvPr id="7" name="Rounded Rectangle 6"/>
          <p:cNvSpPr/>
          <p:nvPr/>
        </p:nvSpPr>
        <p:spPr>
          <a:xfrm>
            <a:off x="4389120" y="1554480"/>
            <a:ext cx="338328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3017520" cy="4297680"/>
          </a:xfrm>
          <a:prstGeom prst="rect">
            <a:avLst/>
          </a:prstGeom>
          <a:noFill/>
        </p:spPr>
        <p:txBody>
          <a:bodyPr wrap="square">
            <a:spAutoFit/>
          </a:bodyPr>
          <a:lstStyle/>
          <a:p>
            <a:pPr>
              <a:spcAft>
                <a:spcPts val="1200"/>
              </a:spcAft>
              <a:defRPr sz="1600" b="1">
                <a:solidFill>
                  <a:srgbClr val="741222"/>
                </a:solidFill>
              </a:defRPr>
            </a:pPr>
            <a:r>
              <a:t>Stage 2: Signing H(m)</a:t>
            </a:r>
          </a:p>
          <a:p>
            <a:pPr>
              <a:defRPr sz="1200">
                <a:solidFill>
                  <a:srgbClr val="0F172A"/>
                </a:solidFill>
              </a:defRPr>
            </a:pPr>
            <a:r>
              <a:t>1. Hash message: H(m).</a:t>
            </a:r>
            <a:br/>
            <a:r>
              <a:t>2. Ephemeral nonce: k ∈ [1, q - 1].</a:t>
            </a:r>
            <a:br/>
            <a:r>
              <a:t>3. r = (g^k mod p) mod q.</a:t>
            </a:r>
            <a:br/>
            <a:r>
              <a:t>4. Invert k via EEA: k^(-1) mod q.</a:t>
            </a:r>
            <a:br/>
            <a:r>
              <a:t>5. s = k^(-1) · (H(m) + x · r) mod q.</a:t>
            </a:r>
            <a:br/>
            <a:br/>
            <a:r>
              <a:t>Signature output: (r, s)</a:t>
            </a:r>
          </a:p>
        </p:txBody>
      </p:sp>
      <p:sp>
        <p:nvSpPr>
          <p:cNvPr id="9" name="Rounded Rectangle 8"/>
          <p:cNvSpPr/>
          <p:nvPr/>
        </p:nvSpPr>
        <p:spPr>
          <a:xfrm>
            <a:off x="8046720" y="1554480"/>
            <a:ext cx="3383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017520" cy="4297680"/>
          </a:xfrm>
          <a:prstGeom prst="rect">
            <a:avLst/>
          </a:prstGeom>
          <a:noFill/>
        </p:spPr>
        <p:txBody>
          <a:bodyPr wrap="square">
            <a:spAutoFit/>
          </a:bodyPr>
          <a:lstStyle/>
          <a:p>
            <a:pPr>
              <a:spcAft>
                <a:spcPts val="1200"/>
              </a:spcAft>
              <a:defRPr sz="1600" b="1">
                <a:solidFill>
                  <a:srgbClr val="741222"/>
                </a:solidFill>
              </a:defRPr>
            </a:pPr>
            <a:r>
              <a:t>Stage 3: Verification</a:t>
            </a:r>
          </a:p>
          <a:p>
            <a:pPr>
              <a:defRPr sz="1200">
                <a:solidFill>
                  <a:srgbClr val="0F172A"/>
                </a:solidFill>
              </a:defRPr>
            </a:pPr>
            <a:r>
              <a:t>1. Check 0 &lt; r &lt; q and 0 &lt; s &lt; q.</a:t>
            </a:r>
            <a:br/>
            <a:r>
              <a:t>2. Compute w = s^(-1) mod q.</a:t>
            </a:r>
            <a:br/>
            <a:r>
              <a:t>3. u1 = H(m) · w mod q.</a:t>
            </a:r>
            <a:br/>
            <a:r>
              <a:t>4. u2 = r · w mod q.</a:t>
            </a:r>
            <a:br/>
            <a:r>
              <a:t>5. v = ((g^u1 · y^u2) mod p) mod q.</a:t>
            </a:r>
            <a:br/>
            <a:r>
              <a:t>6. Verify: v == 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APPLICATION 3: BITCOIN &amp; ETHEREUM</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ECDSA: How Blockchain Wallets Authorize Transactions</a:t>
            </a:r>
          </a:p>
        </p:txBody>
      </p:sp>
      <p:sp>
        <p:nvSpPr>
          <p:cNvPr id="5" name="Rounded Rectangle 4"/>
          <p:cNvSpPr/>
          <p:nvPr/>
        </p:nvSpPr>
        <p:spPr>
          <a:xfrm>
            <a:off x="731520" y="1554480"/>
            <a:ext cx="521208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114800"/>
          </a:xfrm>
          <a:prstGeom prst="rect">
            <a:avLst/>
          </a:prstGeom>
          <a:noFill/>
        </p:spPr>
        <p:txBody>
          <a:bodyPr wrap="square">
            <a:spAutoFit/>
          </a:bodyPr>
          <a:lstStyle/>
          <a:p>
            <a:pPr>
              <a:spcAft>
                <a:spcPts val="1000"/>
              </a:spcAft>
              <a:defRPr sz="1800" b="1">
                <a:solidFill>
                  <a:srgbClr val="741222"/>
                </a:solidFill>
              </a:defRPr>
            </a:pPr>
            <a:r>
              <a:t>Decentralized Ledger Security</a:t>
            </a:r>
          </a:p>
          <a:p>
            <a:pPr>
              <a:spcAft>
                <a:spcPts val="800"/>
              </a:spcAft>
            </a:pPr>
            <a:r>
              <a:rPr b="1" sz="1200">
                <a:solidFill>
                  <a:srgbClr val="9B1B30"/>
                </a:solidFill>
              </a:rPr>
              <a:t>The Environment: </a:t>
            </a:r>
            <a:r>
              <a:rPr sz="1200">
                <a:solidFill>
                  <a:srgbClr val="475569"/>
                </a:solidFill>
              </a:rPr>
              <a:t>Decentralized blockchain networks (Bitcoin, Ethereum) where anonymous peers validate transactions without a central bank.</a:t>
            </a:r>
          </a:p>
          <a:p>
            <a:pPr>
              <a:spcAft>
                <a:spcPts val="800"/>
              </a:spcAft>
            </a:pPr>
            <a:r>
              <a:rPr b="1" sz="1200">
                <a:solidFill>
                  <a:srgbClr val="9B1B30"/>
                </a:solidFill>
              </a:rPr>
              <a:t>Wallet Authorization: </a:t>
            </a:r>
            <a:r>
              <a:rPr sz="1200">
                <a:solidFill>
                  <a:srgbClr val="475569"/>
                </a:solidFill>
              </a:rPr>
              <a:t>A wallet owner holds a private scalar 'd'. When transferring funds, the transaction payload ('Send 2.5 BTC to Alice') is signed on the elliptic curve.</a:t>
            </a:r>
          </a:p>
          <a:p>
            <a:pPr>
              <a:spcAft>
                <a:spcPts val="800"/>
              </a:spcAft>
            </a:pPr>
            <a:r>
              <a:rPr b="1" sz="1200">
                <a:solidFill>
                  <a:srgbClr val="9B1B30"/>
                </a:solidFill>
              </a:rPr>
              <a:t>Why Curves Won: </a:t>
            </a:r>
            <a:r>
              <a:rPr sz="1200">
                <a:solidFill>
                  <a:srgbClr val="475569"/>
                </a:solidFill>
              </a:rPr>
              <a:t>A 2048-bit DSA key required for standard security is replaced by a 256-bit elliptic curve point. Transactions stay tiny, saving network gas and blockchain storage.</a:t>
            </a:r>
          </a:p>
        </p:txBody>
      </p:sp>
      <p:sp>
        <p:nvSpPr>
          <p:cNvPr id="7" name="Rounded Rectangle 6"/>
          <p:cNvSpPr/>
          <p:nvPr/>
        </p:nvSpPr>
        <p:spPr>
          <a:xfrm>
            <a:off x="6217920" y="155448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114800"/>
          </a:xfrm>
          <a:prstGeom prst="rect">
            <a:avLst/>
          </a:prstGeom>
          <a:noFill/>
        </p:spPr>
        <p:txBody>
          <a:bodyPr wrap="square">
            <a:spAutoFit/>
          </a:bodyPr>
          <a:lstStyle/>
          <a:p>
            <a:pPr>
              <a:spcAft>
                <a:spcPts val="1000"/>
              </a:spcAft>
              <a:defRPr sz="1800" b="1">
                <a:solidFill>
                  <a:srgbClr val="0F172A"/>
                </a:solidFill>
              </a:defRPr>
            </a:pPr>
            <a:r>
              <a:t>Point Addition &amp; Consensus Check</a:t>
            </a:r>
          </a:p>
          <a:p>
            <a:pPr>
              <a:spcAft>
                <a:spcPts val="800"/>
              </a:spcAft>
            </a:pPr>
            <a:r>
              <a:rPr b="1" sz="1200">
                <a:solidFill>
                  <a:srgbClr val="741222"/>
                </a:solidFill>
              </a:rPr>
              <a:t>1. Double-and-Add Keygen: </a:t>
            </a:r>
            <a:r>
              <a:rPr sz="1200">
                <a:solidFill>
                  <a:srgbClr val="475569"/>
                </a:solidFill>
              </a:rPr>
              <a:t>Public address is derived as Q = d·G, performing geometric point additions along the curve.</a:t>
            </a:r>
          </a:p>
          <a:p>
            <a:pPr>
              <a:spcAft>
                <a:spcPts val="800"/>
              </a:spcAft>
            </a:pPr>
            <a:r>
              <a:rPr b="1" sz="1200">
                <a:solidFill>
                  <a:srgbClr val="741222"/>
                </a:solidFill>
              </a:rPr>
              <a:t>2. Nonce Point R = k·G: </a:t>
            </a:r>
            <a:r>
              <a:rPr sz="1200">
                <a:solidFill>
                  <a:srgbClr val="475569"/>
                </a:solidFill>
              </a:rPr>
              <a:t>Hardware wallet picks random ephemeral k, computing curve point R. Takes r = R.x mod n.</a:t>
            </a:r>
          </a:p>
          <a:p>
            <a:pPr>
              <a:spcAft>
                <a:spcPts val="800"/>
              </a:spcAft>
            </a:pPr>
            <a:r>
              <a:rPr b="1" sz="1200">
                <a:solidFill>
                  <a:srgbClr val="741222"/>
                </a:solidFill>
              </a:rPr>
              <a:t>3. Signature s: </a:t>
            </a:r>
            <a:r>
              <a:rPr sz="1200">
                <a:solidFill>
                  <a:srgbClr val="475569"/>
                </a:solidFill>
              </a:rPr>
              <a:t>Computes s = k^(-1) · (e + d·r) mod n, binding transaction hash e and private key d.</a:t>
            </a:r>
          </a:p>
          <a:p>
            <a:pPr>
              <a:spcAft>
                <a:spcPts val="800"/>
              </a:spcAft>
            </a:pPr>
            <a:r>
              <a:rPr b="1" sz="1200">
                <a:solidFill>
                  <a:srgbClr val="741222"/>
                </a:solidFill>
              </a:rPr>
              <a:t>4. Consensus Node Verification: </a:t>
            </a:r>
            <a:r>
              <a:rPr sz="1200">
                <a:solidFill>
                  <a:srgbClr val="475569"/>
                </a:solidFill>
              </a:rPr>
              <a:t>Validators verify P = u1·G + u2·Q. If P.x mod n == r, the transaction is verified and mined into the blockchain ledger.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ALGORITHM DETAILS</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ECDSA: Mathematical Algorithm Specification</a:t>
            </a:r>
          </a:p>
        </p:txBody>
      </p:sp>
      <p:sp>
        <p:nvSpPr>
          <p:cNvPr id="5" name="Rounded Rectangle 4"/>
          <p:cNvSpPr/>
          <p:nvPr/>
        </p:nvSpPr>
        <p:spPr>
          <a:xfrm>
            <a:off x="731520" y="1554480"/>
            <a:ext cx="3383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17520" cy="4297680"/>
          </a:xfrm>
          <a:prstGeom prst="rect">
            <a:avLst/>
          </a:prstGeom>
          <a:noFill/>
        </p:spPr>
        <p:txBody>
          <a:bodyPr wrap="square">
            <a:spAutoFit/>
          </a:bodyPr>
          <a:lstStyle/>
          <a:p>
            <a:pPr>
              <a:spcAft>
                <a:spcPts val="1200"/>
              </a:spcAft>
              <a:defRPr sz="1600" b="1">
                <a:solidFill>
                  <a:srgbClr val="741222"/>
                </a:solidFill>
              </a:defRPr>
            </a:pPr>
            <a:r>
              <a:t>Stage 1: Keygen</a:t>
            </a:r>
          </a:p>
          <a:p>
            <a:pPr>
              <a:defRPr sz="1200">
                <a:solidFill>
                  <a:srgbClr val="0F172A"/>
                </a:solidFill>
              </a:defRPr>
            </a:pPr>
            <a:r>
              <a:t>1. Curve y² ≡ x³ + ax + b (mod p).</a:t>
            </a:r>
            <a:br/>
            <a:r>
              <a:t>2. Base generator G with order n.</a:t>
            </a:r>
            <a:br/>
            <a:r>
              <a:t>3. Private key scalar: d ∈ [1, n - 1].</a:t>
            </a:r>
            <a:br/>
            <a:r>
              <a:t>4. Public key point: Q = d · G</a:t>
            </a:r>
            <a:br/>
            <a:r>
              <a:t>   (via double-and-add).</a:t>
            </a:r>
            <a:br/>
            <a:br/>
            <a:r>
              <a:t>Public: (p, a, b, G, n, Q)</a:t>
            </a:r>
            <a:br/>
            <a:r>
              <a:t>Private: d</a:t>
            </a:r>
          </a:p>
        </p:txBody>
      </p:sp>
      <p:sp>
        <p:nvSpPr>
          <p:cNvPr id="7" name="Rounded Rectangle 6"/>
          <p:cNvSpPr/>
          <p:nvPr/>
        </p:nvSpPr>
        <p:spPr>
          <a:xfrm>
            <a:off x="4389120" y="1554480"/>
            <a:ext cx="3383280" cy="4663440"/>
          </a:xfrm>
          <a:prstGeom prst="roundRect">
            <a:avLst/>
          </a:prstGeom>
          <a:solidFill>
            <a:srgbClr val="FDF2F4"/>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3017520" cy="4297680"/>
          </a:xfrm>
          <a:prstGeom prst="rect">
            <a:avLst/>
          </a:prstGeom>
          <a:noFill/>
        </p:spPr>
        <p:txBody>
          <a:bodyPr wrap="square">
            <a:spAutoFit/>
          </a:bodyPr>
          <a:lstStyle/>
          <a:p>
            <a:pPr>
              <a:spcAft>
                <a:spcPts val="1200"/>
              </a:spcAft>
              <a:defRPr sz="1600" b="1">
                <a:solidFill>
                  <a:srgbClr val="741222"/>
                </a:solidFill>
              </a:defRPr>
            </a:pPr>
            <a:r>
              <a:t>Stage 2: Signing e = H(m)</a:t>
            </a:r>
          </a:p>
          <a:p>
            <a:pPr>
              <a:defRPr sz="1200">
                <a:solidFill>
                  <a:srgbClr val="0F172A"/>
                </a:solidFill>
              </a:defRPr>
            </a:pPr>
            <a:r>
              <a:t>1. Hash message: e = H(m).</a:t>
            </a:r>
            <a:br/>
            <a:r>
              <a:t>2. Ephemeral scalar: k ∈ [1, n - 1].</a:t>
            </a:r>
            <a:br/>
            <a:r>
              <a:t>3. Curve point: R = k · G = (x_R, y_R).</a:t>
            </a:r>
            <a:br/>
            <a:r>
              <a:t>4. r = x_R mod n.</a:t>
            </a:r>
            <a:br/>
            <a:r>
              <a:t>5. s = k^(-1) · (e + d · r) mod n.</a:t>
            </a:r>
            <a:br/>
            <a:br/>
            <a:r>
              <a:t>Signature output: (r, s)</a:t>
            </a:r>
          </a:p>
        </p:txBody>
      </p:sp>
      <p:sp>
        <p:nvSpPr>
          <p:cNvPr id="9" name="Rounded Rectangle 8"/>
          <p:cNvSpPr/>
          <p:nvPr/>
        </p:nvSpPr>
        <p:spPr>
          <a:xfrm>
            <a:off x="8046720" y="1554480"/>
            <a:ext cx="3383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017520" cy="4297680"/>
          </a:xfrm>
          <a:prstGeom prst="rect">
            <a:avLst/>
          </a:prstGeom>
          <a:noFill/>
        </p:spPr>
        <p:txBody>
          <a:bodyPr wrap="square">
            <a:spAutoFit/>
          </a:bodyPr>
          <a:lstStyle/>
          <a:p>
            <a:pPr>
              <a:spcAft>
                <a:spcPts val="1200"/>
              </a:spcAft>
              <a:defRPr sz="1600" b="1">
                <a:solidFill>
                  <a:srgbClr val="741222"/>
                </a:solidFill>
              </a:defRPr>
            </a:pPr>
            <a:r>
              <a:t>Stage 3: Verification</a:t>
            </a:r>
          </a:p>
          <a:p>
            <a:pPr>
              <a:defRPr sz="1200">
                <a:solidFill>
                  <a:srgbClr val="0F172A"/>
                </a:solidFill>
              </a:defRPr>
            </a:pPr>
            <a:r>
              <a:t>1. Check 0 &lt; r &lt; n and 0 &lt; s &lt; n.</a:t>
            </a:r>
            <a:br/>
            <a:r>
              <a:t>2. Compute w = s^(-1) mod n.</a:t>
            </a:r>
            <a:br/>
            <a:r>
              <a:t>3. u1 = e · w mod n.</a:t>
            </a:r>
            <a:br/>
            <a:r>
              <a:t>4. u2 = r · w mod n.</a:t>
            </a:r>
            <a:br/>
            <a:r>
              <a:t>5. Point: P = u1 · G + u2 · Q = (x_P, y_P).</a:t>
            </a:r>
            <a:br/>
            <a:r>
              <a:t>6. Verify: x_P mod n == 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LIVE NUMERICAL VERIFICATION</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Worked Example 1: Diffie–Hellman with Simple Numbers</a:t>
            </a:r>
          </a:p>
        </p:txBody>
      </p:sp>
      <p:sp>
        <p:nvSpPr>
          <p:cNvPr id="5" name="Rounded Rectangle 4"/>
          <p:cNvSpPr/>
          <p:nvPr/>
        </p:nvSpPr>
        <p:spPr>
          <a:xfrm>
            <a:off x="731520" y="1554480"/>
            <a:ext cx="10698480" cy="4663440"/>
          </a:xfrm>
          <a:prstGeom prst="roundRect">
            <a:avLst/>
          </a:prstGeom>
          <a:solidFill>
            <a:srgbClr val="FFFFFF"/>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9966960" cy="4114800"/>
          </a:xfrm>
          <a:prstGeom prst="rect">
            <a:avLst/>
          </a:prstGeom>
          <a:noFill/>
        </p:spPr>
        <p:txBody>
          <a:bodyPr wrap="square">
            <a:spAutoFit/>
          </a:bodyPr>
          <a:lstStyle/>
          <a:p>
            <a:pPr>
              <a:spcAft>
                <a:spcPts val="1000"/>
              </a:spcAft>
              <a:defRPr sz="1800" b="1">
                <a:solidFill>
                  <a:srgbClr val="741222"/>
                </a:solidFill>
              </a:defRPr>
            </a:pPr>
            <a:r>
              <a:t>Hand-Verifiable Arithmetic: p = 23, g = 5, Alice a = 6, Bob b = 15</a:t>
            </a:r>
          </a:p>
          <a:p>
            <a:pPr>
              <a:spcAft>
                <a:spcPts val="600"/>
              </a:spcAft>
            </a:pPr>
            <a:r>
              <a:rPr b="1" sz="1200">
                <a:solidFill>
                  <a:srgbClr val="9B1B30"/>
                </a:solidFill>
              </a:rPr>
              <a:t>1. Public Setup: </a:t>
            </a:r>
            <a:r>
              <a:rPr sz="1200">
                <a:solidFill>
                  <a:srgbClr val="0F172A"/>
                </a:solidFill>
              </a:rPr>
              <a:t>Prime modulus p = 23, Generator g = 5 (a primitive root modulo 23).</a:t>
            </a:r>
          </a:p>
          <a:p>
            <a:pPr>
              <a:spcAft>
                <a:spcPts val="600"/>
              </a:spcAft>
            </a:pPr>
            <a:r>
              <a:rPr b="1" sz="1200">
                <a:solidFill>
                  <a:srgbClr val="9B1B30"/>
                </a:solidFill>
              </a:rPr>
              <a:t>2. Secret Exponents: </a:t>
            </a:r>
            <a:r>
              <a:rPr sz="1200">
                <a:solidFill>
                  <a:srgbClr val="0F172A"/>
                </a:solidFill>
              </a:rPr>
              <a:t>Alice secretly chooses a = 6. Bob secretly chooses b = 15.</a:t>
            </a:r>
          </a:p>
          <a:p>
            <a:pPr>
              <a:spcAft>
                <a:spcPts val="600"/>
              </a:spcAft>
            </a:pPr>
            <a:r>
              <a:rPr b="1" sz="1200">
                <a:solidFill>
                  <a:srgbClr val="9B1B30"/>
                </a:solidFill>
              </a:rPr>
              <a:t>3. Public Keys: </a:t>
            </a:r>
            <a:r>
              <a:rPr sz="1200">
                <a:solidFill>
                  <a:srgbClr val="0F172A"/>
                </a:solidFill>
              </a:rPr>
              <a:t>
• Alice computes A = g^a mod p = 5^6 mod 23
  5^2 = 25 ≡ 2; 5^4 = 2^2 = 4; 5^6 = 4 · 2 = 8 mod 23 ➔ A = 8
• Bob computes B = g^b mod p = 5^15 mod 23
  5^15 = (5^6)^2 · 5^3 = (8)^2 · 125 = 64 · 10 = 640 = 27 · 23 + 19 ≡ 19 mod 23 ➔ B = 19</a:t>
            </a:r>
          </a:p>
          <a:p>
            <a:pPr>
              <a:spcAft>
                <a:spcPts val="600"/>
              </a:spcAft>
            </a:pPr>
            <a:r>
              <a:rPr b="1" sz="1200">
                <a:solidFill>
                  <a:srgbClr val="9B1B30"/>
                </a:solidFill>
              </a:rPr>
              <a:t>4. Wire Exchange: </a:t>
            </a:r>
            <a:r>
              <a:rPr sz="1200">
                <a:solidFill>
                  <a:srgbClr val="0F172A"/>
                </a:solidFill>
              </a:rPr>
              <a:t>Alice sends A = 8; Bob sends B = 19. Eve intercepts p=23, g=5, A=8, B=19.</a:t>
            </a:r>
          </a:p>
          <a:p>
            <a:pPr>
              <a:spcAft>
                <a:spcPts val="600"/>
              </a:spcAft>
            </a:pPr>
            <a:r>
              <a:rPr b="1" sz="1200">
                <a:solidFill>
                  <a:srgbClr val="9B1B30"/>
                </a:solidFill>
              </a:rPr>
              <a:t>5. Shared Secret Calculation: </a:t>
            </a:r>
            <a:r>
              <a:rPr sz="1200">
                <a:solidFill>
                  <a:srgbClr val="0F172A"/>
                </a:solidFill>
              </a:rPr>
              <a:t>
• Alice calculates: s = B^a mod p = 19^6 mod 23 ➔ 19 ≡ -4 mod 23 ➔ (-4)^6 = 16^3 = 4096 = 178 · 23 + 2 ≡ 2 mod 23 ➔ s = 2
• Bob calculates: s = A^b mod p = 8^15 mod 23 ➔ (8^2)^7 · 8 = (18)^7 · 8 ≡ 2 mod 23 ➔ s = 2</a:t>
            </a:r>
          </a:p>
          <a:p>
            <a:pPr>
              <a:spcAft>
                <a:spcPts val="600"/>
              </a:spcAft>
            </a:pPr>
            <a:r>
              <a:rPr b="1" sz="1200">
                <a:solidFill>
                  <a:srgbClr val="9B1B30"/>
                </a:solidFill>
              </a:rPr>
              <a:t>Result: </a:t>
            </a:r>
            <a:r>
              <a:rPr sz="1200">
                <a:solidFill>
                  <a:srgbClr val="0F172A"/>
                </a:solidFill>
              </a:rPr>
              <a:t>Both Alice and Bob compute identical symmetric encryption key s =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LIVE NUMERICAL VERIFICATION</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Worked Example 2: DSA with Simple Numbers</a:t>
            </a:r>
          </a:p>
        </p:txBody>
      </p:sp>
      <p:sp>
        <p:nvSpPr>
          <p:cNvPr id="5" name="Rounded Rectangle 4"/>
          <p:cNvSpPr/>
          <p:nvPr/>
        </p:nvSpPr>
        <p:spPr>
          <a:xfrm>
            <a:off x="731520" y="1554480"/>
            <a:ext cx="10698480" cy="4663440"/>
          </a:xfrm>
          <a:prstGeom prst="roundRect">
            <a:avLst/>
          </a:prstGeom>
          <a:solidFill>
            <a:srgbClr val="FFFFFF"/>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9966960" cy="4114800"/>
          </a:xfrm>
          <a:prstGeom prst="rect">
            <a:avLst/>
          </a:prstGeom>
          <a:noFill/>
        </p:spPr>
        <p:txBody>
          <a:bodyPr wrap="square">
            <a:spAutoFit/>
          </a:bodyPr>
          <a:lstStyle/>
          <a:p>
            <a:pPr>
              <a:spcAft>
                <a:spcPts val="1000"/>
              </a:spcAft>
              <a:defRPr sz="1800" b="1">
                <a:solidFill>
                  <a:srgbClr val="741222"/>
                </a:solidFill>
              </a:defRPr>
            </a:pPr>
            <a:r>
              <a:t>Hand-Verifiable Arithmetic: p = 67, q = 11, g = 64, x = 5, k = 7</a:t>
            </a:r>
          </a:p>
          <a:p>
            <a:pPr>
              <a:spcAft>
                <a:spcPts val="600"/>
              </a:spcAft>
            </a:pPr>
            <a:r>
              <a:rPr b="1" sz="1200">
                <a:solidFill>
                  <a:srgbClr val="9B1B30"/>
                </a:solidFill>
              </a:rPr>
              <a:t>1. Parameters &amp; Keygen: </a:t>
            </a:r>
            <a:r>
              <a:rPr sz="1200">
                <a:solidFill>
                  <a:srgbClr val="0F172A"/>
                </a:solidFill>
              </a:rPr>
              <a:t>p = 67, q = 11 (11 divides 66), g = 64 (order 11 mod 67). Private key x = 5.
Public key y = g^x mod p = 64^5 mod 67 = 25.</a:t>
            </a:r>
          </a:p>
          <a:p>
            <a:pPr>
              <a:spcAft>
                <a:spcPts val="600"/>
              </a:spcAft>
            </a:pPr>
            <a:r>
              <a:rPr b="1" sz="1200">
                <a:solidFill>
                  <a:srgbClr val="9B1B30"/>
                </a:solidFill>
              </a:rPr>
              <a:t>2. Signing Hash H(m) = 9: </a:t>
            </a:r>
            <a:r>
              <a:rPr sz="1200">
                <a:solidFill>
                  <a:srgbClr val="0F172A"/>
                </a:solidFill>
              </a:rPr>
              <a:t>
• Choose nonce k = 7. Compute r = (g^k mod p) mod q = (64^7 mod 67) mod 11 = 24 mod 11 = 2 ➔ r = 2
• Modular inverse k^(-1) mod q via EEA: 7 · 8 = 56 ≡ 1 mod 11 ➔ k^(-1) = 8
• s = k^(-1) · (H(m) + x · r) mod q = 8 · (9 + 5 · 2) mod 11 = 8 · 19 mod 11 = 8 · 8 = 64 ≡ 9 mod 11 ➔ s = 9
Signature output: (r = 2, s = 9).</a:t>
            </a:r>
          </a:p>
          <a:p>
            <a:pPr>
              <a:spcAft>
                <a:spcPts val="600"/>
              </a:spcAft>
            </a:pPr>
            <a:r>
              <a:rPr b="1" sz="1200">
                <a:solidFill>
                  <a:srgbClr val="9B1B30"/>
                </a:solidFill>
              </a:rPr>
              <a:t>3. Client Verification: </a:t>
            </a:r>
            <a:r>
              <a:rPr sz="1200">
                <a:solidFill>
                  <a:srgbClr val="0F172A"/>
                </a:solidFill>
              </a:rPr>
              <a:t>
• Invert s mod q: w = 9^(-1) mod 11 = 5 (since 9 · 5 = 45 ≡ 1 mod 11)
• u1 = H(m) · w mod q = 9 · 5 = 45 ≡ 1 mod 11 ➔ u1 = 1
• u2 = r · w mod q = 2 · 5 = 10 mod 11 ➔ u2 = 10
• v = ((g^u1 · y^u2) mod p) mod q = ((64^1 · 25^10) mod 67) mod 11 = (64 · 58 mod 67) mod 11 = 27 mod 11 = 2 ➔ v = 2</a:t>
            </a:r>
          </a:p>
          <a:p>
            <a:pPr>
              <a:spcAft>
                <a:spcPts val="600"/>
              </a:spcAft>
            </a:pPr>
            <a:r>
              <a:rPr b="1" sz="1200">
                <a:solidFill>
                  <a:srgbClr val="9B1B30"/>
                </a:solidFill>
              </a:rPr>
              <a:t>Result: </a:t>
            </a:r>
            <a:r>
              <a:rPr sz="1200">
                <a:solidFill>
                  <a:srgbClr val="0F172A"/>
                </a:solidFill>
              </a:rPr>
              <a:t>v == r (2 == 2) ➔ SIGNATURE AUTHENTIC &amp; VERIFIED!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LIVE NUMERICAL VERIFICATION</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Worked Example 3: ECDSA with Simple Numbers</a:t>
            </a:r>
          </a:p>
        </p:txBody>
      </p:sp>
      <p:sp>
        <p:nvSpPr>
          <p:cNvPr id="5" name="Rounded Rectangle 4"/>
          <p:cNvSpPr/>
          <p:nvPr/>
        </p:nvSpPr>
        <p:spPr>
          <a:xfrm>
            <a:off x="731520" y="1554480"/>
            <a:ext cx="10698480" cy="4663440"/>
          </a:xfrm>
          <a:prstGeom prst="roundRect">
            <a:avLst/>
          </a:prstGeom>
          <a:solidFill>
            <a:srgbClr val="FFFFFF"/>
          </a:solidFill>
          <a:ln w="19050">
            <a:solidFill>
              <a:srgbClr val="9B1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9966960" cy="4114800"/>
          </a:xfrm>
          <a:prstGeom prst="rect">
            <a:avLst/>
          </a:prstGeom>
          <a:noFill/>
        </p:spPr>
        <p:txBody>
          <a:bodyPr wrap="square">
            <a:spAutoFit/>
          </a:bodyPr>
          <a:lstStyle/>
          <a:p>
            <a:pPr>
              <a:spcAft>
                <a:spcPts val="1000"/>
              </a:spcAft>
              <a:defRPr sz="1800" b="1">
                <a:solidFill>
                  <a:srgbClr val="741222"/>
                </a:solidFill>
              </a:defRPr>
            </a:pPr>
            <a:r>
              <a:t>Hand-Verifiable Arithmetic: y² ≡ x³ + x + 1 mod 97, G = (0, 1), n = 97</a:t>
            </a:r>
          </a:p>
          <a:p>
            <a:pPr>
              <a:spcAft>
                <a:spcPts val="600"/>
              </a:spcAft>
            </a:pPr>
            <a:r>
              <a:rPr b="1" sz="1200">
                <a:solidFill>
                  <a:srgbClr val="9B1B30"/>
                </a:solidFill>
              </a:rPr>
              <a:t>1. Curve &amp; Keygen: </a:t>
            </a:r>
            <a:r>
              <a:rPr sz="1200">
                <a:solidFill>
                  <a:srgbClr val="0F172A"/>
                </a:solidFill>
              </a:rPr>
              <a:t>Curve y² = x³ + x + 1 mod 97. Group order n = 97 (prime). Base G = (0, 1).
Wallet private key d = 7. Public key point Q = 7 · G = (75, 1).</a:t>
            </a:r>
          </a:p>
          <a:p>
            <a:pPr>
              <a:spcAft>
                <a:spcPts val="600"/>
              </a:spcAft>
            </a:pPr>
            <a:r>
              <a:rPr b="1" sz="1200">
                <a:solidFill>
                  <a:srgbClr val="9B1B30"/>
                </a:solidFill>
              </a:rPr>
              <a:t>2. Signing Hash e = 26: </a:t>
            </a:r>
            <a:r>
              <a:rPr sz="1200">
                <a:solidFill>
                  <a:srgbClr val="0F172A"/>
                </a:solidFill>
              </a:rPr>
              <a:t>
• Choose nonce k = 13. Curve point R = k · G = 13 · (0, 1) = (74, 13) ➔ r = 74 mod 97 = 74
• Modular inverse k^(-1) mod n: 13^(-1) mod 97 = 15 (since 13 · 15 = 195 ≡ 1 mod 97)
• s = k^(-1) · (e + d · r) mod n = 15 · (26 + 7 · 74) mod 97 = 15 · (26 + 33) = 15 · 59 = 885 ≡ 12 mod 97 ➔ s = 12
Signature output: (r = 74, s = 12).</a:t>
            </a:r>
          </a:p>
          <a:p>
            <a:pPr>
              <a:spcAft>
                <a:spcPts val="600"/>
              </a:spcAft>
            </a:pPr>
            <a:r>
              <a:rPr b="1" sz="1200">
                <a:solidFill>
                  <a:srgbClr val="9B1B30"/>
                </a:solidFill>
              </a:rPr>
              <a:t>3. Validator Verification: </a:t>
            </a:r>
            <a:r>
              <a:rPr sz="1200">
                <a:solidFill>
                  <a:srgbClr val="0F172A"/>
                </a:solidFill>
              </a:rPr>
              <a:t>
• w = s^(-1) mod n = 12^(-1) mod 97 = 89 (since 12 · 89 = 1068 ≡ 1 mod 97)
• u1 = e · w mod n = 26 · 89 = 2314 ≡ 83 mod 97
• u2 = r · w mod n = 74 · 89 = 6586 ≡ 87 mod 97
• Compute curve point P = u1 · G + u2 · Q = 83 · (0, 1) + 87 · (75, 1) = (74, 18)
• Verification check: P.x mod n = 74 mod 97 = 74 == r!</a:t>
            </a:r>
          </a:p>
          <a:p>
            <a:pPr>
              <a:spcAft>
                <a:spcPts val="600"/>
              </a:spcAft>
            </a:pPr>
            <a:r>
              <a:rPr b="1" sz="1200">
                <a:solidFill>
                  <a:srgbClr val="9B1B30"/>
                </a:solidFill>
              </a:rPr>
              <a:t>Result: </a:t>
            </a:r>
            <a:r>
              <a:rPr sz="1200">
                <a:solidFill>
                  <a:srgbClr val="0F172A"/>
                </a:solidFill>
              </a:rPr>
              <a:t>P.x matches r exactly ➔ TRANSACTION MINED TO LEDGER!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9B1B30"/>
                </a:solidFill>
              </a:defRPr>
            </a:pPr>
            <a:r>
              <a:t>REVIEW</a:t>
            </a:r>
          </a:p>
        </p:txBody>
      </p:sp>
      <p:sp>
        <p:nvSpPr>
          <p:cNvPr id="4" name="TextBox 3"/>
          <p:cNvSpPr txBox="1"/>
          <p:nvPr/>
        </p:nvSpPr>
        <p:spPr>
          <a:xfrm>
            <a:off x="731520" y="658368"/>
            <a:ext cx="10698480" cy="685800"/>
          </a:xfrm>
          <a:prstGeom prst="rect">
            <a:avLst/>
          </a:prstGeom>
          <a:noFill/>
        </p:spPr>
        <p:txBody>
          <a:bodyPr wrap="square" lIns="0" tIns="0" rIns="0" bIns="0">
            <a:spAutoFit/>
          </a:bodyPr>
          <a:lstStyle/>
          <a:p>
            <a:pPr>
              <a:defRPr sz="2400" b="1">
                <a:solidFill>
                  <a:srgbClr val="0F172A"/>
                </a:solidFill>
              </a:defRPr>
            </a:pPr>
            <a:r>
              <a:t>Summary: The Public-Key Matrix at a Glance</a:t>
            </a:r>
          </a:p>
        </p:txBody>
      </p:sp>
      <p:sp>
        <p:nvSpPr>
          <p:cNvPr id="5" name="Rounded Rectangle 4"/>
          <p:cNvSpPr/>
          <p:nvPr/>
        </p:nvSpPr>
        <p:spPr>
          <a:xfrm>
            <a:off x="731520" y="155448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9966960" cy="4114800"/>
          </a:xfrm>
          <a:prstGeom prst="rect">
            <a:avLst/>
          </a:prstGeom>
          <a:noFill/>
        </p:spPr>
        <p:txBody>
          <a:bodyPr wrap="square">
            <a:spAutoFit/>
          </a:bodyPr>
          <a:lstStyle/>
          <a:p>
            <a:pPr>
              <a:spcAft>
                <a:spcPts val="1200"/>
              </a:spcAft>
              <a:defRPr sz="1800" b="1">
                <a:solidFill>
                  <a:srgbClr val="741222"/>
                </a:solidFill>
              </a:defRPr>
            </a:pPr>
            <a:r>
              <a:t>Key Takeaways from Production Implementations</a:t>
            </a:r>
          </a:p>
          <a:p>
            <a:pPr>
              <a:spcAft>
                <a:spcPts val="800"/>
              </a:spcAft>
            </a:pPr>
            <a:r>
              <a:rPr b="1" sz="1200">
                <a:solidFill>
                  <a:srgbClr val="9B1B30"/>
                </a:solidFill>
              </a:rPr>
              <a:t>Diffie–Hellman (DH): </a:t>
            </a:r>
            <a:r>
              <a:rPr sz="1200">
                <a:solidFill>
                  <a:srgbClr val="0F172A"/>
                </a:solidFill>
              </a:rPr>
              <a:t>Essential for interactive confidential sessions. Solves the key distribution problem. Forms the basis of TLS 1.3, Signal, and SSH. Hardness based on Discrete Log Problem in modular integer fields.</a:t>
            </a:r>
          </a:p>
          <a:p>
            <a:pPr>
              <a:spcAft>
                <a:spcPts val="800"/>
              </a:spcAft>
            </a:pPr>
            <a:r>
              <a:rPr b="1" sz="1200">
                <a:solidFill>
                  <a:srgbClr val="9B1B30"/>
                </a:solidFill>
              </a:rPr>
              <a:t>Digital Signature Algorithm (DSA): </a:t>
            </a:r>
            <a:r>
              <a:rPr sz="1200">
                <a:solidFill>
                  <a:srgbClr val="0F172A"/>
                </a:solidFill>
              </a:rPr>
              <a:t>Historic FIPS 186 signature standard for software authenticity and code signing. Proves author identity and message integrity via the (r, s) tuple.</a:t>
            </a:r>
          </a:p>
          <a:p>
            <a:pPr>
              <a:spcAft>
                <a:spcPts val="800"/>
              </a:spcAft>
            </a:pPr>
            <a:r>
              <a:rPr b="1" sz="1200">
                <a:solidFill>
                  <a:srgbClr val="9B1B30"/>
                </a:solidFill>
              </a:rPr>
              <a:t>Elliptic Curve DSA (ECDSA): </a:t>
            </a:r>
            <a:r>
              <a:rPr sz="1200">
                <a:solidFill>
                  <a:srgbClr val="0F172A"/>
                </a:solidFill>
              </a:rPr>
              <a:t>The modern standard. Replaces integer exponentiation with curve point scalar multiplication. Eliminates sub-exponential index calculus attacks, reducing key lengths from 2048 to 256 bits for equivalent 128-bit security.</a:t>
            </a:r>
          </a:p>
          <a:p>
            <a:pPr>
              <a:spcAft>
                <a:spcPts val="800"/>
              </a:spcAft>
            </a:pPr>
            <a:r>
              <a:rPr b="1" sz="1200">
                <a:solidFill>
                  <a:srgbClr val="9B1B30"/>
                </a:solidFill>
              </a:rPr>
              <a:t>Critical Production Rule: </a:t>
            </a:r>
            <a:r>
              <a:rPr sz="1200">
                <a:solidFill>
                  <a:srgbClr val="0F172A"/>
                </a:solidFill>
              </a:rPr>
              <a:t>In both DSA and ECDSA, the nonce 'k' must be cryptographically random and NEVER reused. A single duplicate k across two signatures completely reveals the private key!</a:t>
            </a:r>
          </a:p>
          <a:p>
            <a:pPr>
              <a:spcAft>
                <a:spcPts val="800"/>
              </a:spcAft>
            </a:pPr>
            <a:r>
              <a:rPr b="1" sz="1200">
                <a:solidFill>
                  <a:srgbClr val="9B1B30"/>
                </a:solidFill>
              </a:rPr>
              <a:t>The Core Insight: </a:t>
            </a:r>
            <a:r>
              <a:rPr sz="1200">
                <a:solidFill>
                  <a:srgbClr val="0F172A"/>
                </a:solidFill>
              </a:rPr>
              <a:t>Public-key cryptography does not hide information by obscuring data; it protects data with asymmetric mathematical trapdoors that require impossible compute to reverse.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